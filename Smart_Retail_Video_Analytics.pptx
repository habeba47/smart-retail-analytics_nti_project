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389120"/>
            <a:ext cx="5029200" cy="5029200"/>
          </a:xfrm>
          <a:prstGeom prst="ellipse">
            <a:avLst/>
          </a:prstGeom>
          <a:solidFill>
            <a:srgbClr val="E0A339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E0A339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GRADUATION PROJECT · COMPUTER VISION &amp; RETAIL ANALYTICS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" y="1874520"/>
            <a:ext cx="10607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4F8F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Smart Retail Video Analytics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3246120"/>
            <a:ext cx="9326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AFC6C4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Turning raw store camera footage into customer tracking, dwell time, queue,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AFC6C4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and crowd intelligence — end to end, with a live interactive dashboard.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4892040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1C7293">
              <a:alpha val="45000"/>
            </a:srgbClr>
          </a:solidFill>
          <a:ln w="12700">
            <a:solidFill>
              <a:srgbClr val="E0A33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8920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F8F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  Detection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642616" y="4892040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1C7293">
              <a:alpha val="45000"/>
            </a:srgbClr>
          </a:solidFill>
          <a:ln w="12700">
            <a:solidFill>
              <a:srgbClr val="E0A33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42616" y="48920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F8F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  Tracking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462272" y="4892040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1C7293">
              <a:alpha val="45000"/>
            </a:srgbClr>
          </a:solidFill>
          <a:ln w="12700">
            <a:solidFill>
              <a:srgbClr val="E0A33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62272" y="48920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F8F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3  Zones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81928" y="4892040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1C7293">
              <a:alpha val="45000"/>
            </a:srgbClr>
          </a:solidFill>
          <a:ln w="12700">
            <a:solidFill>
              <a:srgbClr val="E0A33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81928" y="48920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F8F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4  Analytics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101584" y="4892040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1C7293">
              <a:alpha val="45000"/>
            </a:srgbClr>
          </a:solidFill>
          <a:ln w="12700">
            <a:solidFill>
              <a:srgbClr val="E0A33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01584" y="48920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F8F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5  Evaluation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921240" y="4892040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1C7293">
              <a:alpha val="45000"/>
            </a:srgbClr>
          </a:solidFill>
          <a:ln w="12700">
            <a:solidFill>
              <a:srgbClr val="E0A33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921240" y="48920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F8F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6  Dashboard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22960" y="6080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6C4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Presented by the Team  ·  NTI Retail Intelligence Project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E0A339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B2C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What we'll walk through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0A339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43000" y="1828800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2B2C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Problem Statement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1143000" y="2121408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E7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Why in-store customer behavior is hard to see today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2487168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0A339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43000" y="2487168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2B2C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Proposed Solution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143000" y="2779776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E7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Our end-to-end computer vision pipeline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31455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0A339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43000" y="3145536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2B2C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Pipeline Overview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143000" y="3438144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E7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Six stages, from raw frame to insight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3803904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0A339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04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43000" y="3803904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2B2C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Detection &amp; Tracking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143000" y="4096512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E7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Finding people and keeping their identity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172200" y="18288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0A339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05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766560" y="1828800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2B2C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Zone, Queue &amp; Heatmap Analytics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766560" y="2121408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E7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Turning positions into retail metrics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172200" y="2487168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0A339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06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766560" y="2487168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2B2C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Evaluation &amp; Dashboard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766560" y="2779776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E7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Measuring quality, delivering it live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172200" y="31455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0A339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07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766560" y="3145536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2B2C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Team &amp; Results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766560" y="3438144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E7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Who built what, and what we achieved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B6E7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SMART RETAIL VIDEO ANALYTICS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E7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E0A339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789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B2C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Retail stores are flying blind on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142B2C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in-store customer behavior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5623560" cy="3977640"/>
          </a:xfrm>
          <a:prstGeom prst="roundRect">
            <a:avLst>
              <a:gd name="adj" fmla="val 2759"/>
            </a:avLst>
          </a:prstGeom>
          <a:solidFill>
            <a:srgbClr val="EAF1F1"/>
          </a:solidFill>
          <a:ln w="12700">
            <a:solidFill>
              <a:srgbClr val="D8E3E2"/>
            </a:solidFill>
            <a:prstDash val="solid"/>
          </a:ln>
          <a:effectLst>
            <a:outerShdw sx="100000" sy="100000" kx="0" ky="0" algn="bl" rotWithShape="0" blurRad="101600" dist="25400" dir="5400000">
              <a:srgbClr val="6B7B7B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60604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0B3D3E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Store cameras record everything —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0B3D3E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but nobody is watching for insight.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3520440"/>
            <a:ext cx="5029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42B2C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No object-level tracking of who went where, or for how long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42B2C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No automated dwell-time data per shelf or zone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42B2C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Queues and crowding are noticed only after they become a problem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42B2C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Manual review of footage doesn't scale beyond a handful of stores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74536" y="2459736"/>
            <a:ext cx="658368" cy="658368"/>
          </a:xfrm>
          <a:prstGeom prst="ellipse">
            <a:avLst/>
          </a:prstGeom>
          <a:solidFill>
            <a:srgbClr val="0B3D3E"/>
          </a:solidFill>
          <a:ln/>
        </p:spPr>
      </p:sp>
      <p:sp>
        <p:nvSpPr>
          <p:cNvPr id="8" name="Text 6"/>
          <p:cNvSpPr/>
          <p:nvPr/>
        </p:nvSpPr>
        <p:spPr>
          <a:xfrm>
            <a:off x="6574536" y="245973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👁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60920" y="238658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B2C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Blind spots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360920" y="267919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B6E7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Managers can't see real movement patterns, only totals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6574536" y="3483864"/>
            <a:ext cx="658368" cy="658368"/>
          </a:xfrm>
          <a:prstGeom prst="ellipse">
            <a:avLst/>
          </a:prstGeom>
          <a:solidFill>
            <a:srgbClr val="0B3D3E"/>
          </a:solidFill>
          <a:ln/>
        </p:spPr>
      </p:sp>
      <p:sp>
        <p:nvSpPr>
          <p:cNvPr id="12" name="Text 10"/>
          <p:cNvSpPr/>
          <p:nvPr/>
        </p:nvSpPr>
        <p:spPr>
          <a:xfrm>
            <a:off x="6574536" y="348386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⏱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360920" y="341071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B2C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No dwell data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360920" y="370332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B6E7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No idea how long shoppers linger at any given shelf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6574536" y="4507992"/>
            <a:ext cx="658368" cy="658368"/>
          </a:xfrm>
          <a:prstGeom prst="ellipse">
            <a:avLst/>
          </a:prstGeom>
          <a:solidFill>
            <a:srgbClr val="0B3D3E"/>
          </a:solidFill>
          <a:ln/>
        </p:spPr>
      </p:sp>
      <p:sp>
        <p:nvSpPr>
          <p:cNvPr id="16" name="Text 14"/>
          <p:cNvSpPr/>
          <p:nvPr/>
        </p:nvSpPr>
        <p:spPr>
          <a:xfrm>
            <a:off x="6574536" y="450799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🚶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360920" y="443484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B2C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Late alerts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360920" y="472744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B6E7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Queues build up before staff can react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6574536" y="5532120"/>
            <a:ext cx="658368" cy="658368"/>
          </a:xfrm>
          <a:prstGeom prst="ellipse">
            <a:avLst/>
          </a:prstGeom>
          <a:solidFill>
            <a:srgbClr val="0B3D3E"/>
          </a:solidFill>
          <a:ln/>
        </p:spPr>
      </p:sp>
      <p:sp>
        <p:nvSpPr>
          <p:cNvPr id="20" name="Text 18"/>
          <p:cNvSpPr/>
          <p:nvPr/>
        </p:nvSpPr>
        <p:spPr>
          <a:xfrm>
            <a:off x="6574536" y="55321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📉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360920" y="545896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B2C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No benchmark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360920" y="5751576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B6E7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No consistent way to measure or compare store performance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B6E7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SMART RETAIL VIDEO ANALYTICS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E7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E0A339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OUR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789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B2C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One pipeline: from a raw camera clip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142B2C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to actionable retail metrics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21488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B6E7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We built a computer-vision pipeline that detects every person in a store video, keeps a stable identity for each of them across frames, maps their position into named store zones, and converts that raw movement into the metrics a store manager actually cares about — wrapped in a live dashboard anyone on the team can run.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3108960"/>
            <a:ext cx="3566160" cy="1600200"/>
          </a:xfrm>
          <a:prstGeom prst="roundRect">
            <a:avLst>
              <a:gd name="adj" fmla="val 6857"/>
            </a:avLst>
          </a:prstGeom>
          <a:solidFill>
            <a:srgbClr val="F2F6F6"/>
          </a:solidFill>
          <a:ln w="12700">
            <a:solidFill>
              <a:srgbClr val="D8E3E2"/>
            </a:solidFill>
            <a:prstDash val="solid"/>
          </a:ln>
          <a:effectLst>
            <a:outerShdw sx="100000" sy="100000" kx="0" ky="0" algn="bl" rotWithShape="0" blurRad="101600" dist="25400" dir="5400000">
              <a:srgbClr val="6B7B7B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8096" y="3282696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768096" y="32826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🎯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39319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D3E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Detection &amp; Tracking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77240" y="42062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5B6E7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YOLO + BoT-SORT keep a stable ID per customer, even through brief occlusion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4297680" y="3108960"/>
            <a:ext cx="3566160" cy="1600200"/>
          </a:xfrm>
          <a:prstGeom prst="roundRect">
            <a:avLst>
              <a:gd name="adj" fmla="val 6857"/>
            </a:avLst>
          </a:prstGeom>
          <a:solidFill>
            <a:srgbClr val="F2F6F6"/>
          </a:solidFill>
          <a:ln w="12700">
            <a:solidFill>
              <a:srgbClr val="D8E3E2"/>
            </a:solidFill>
            <a:prstDash val="solid"/>
          </a:ln>
          <a:effectLst>
            <a:outerShdw sx="100000" sy="100000" kx="0" ky="0" algn="bl" rotWithShape="0" blurRad="101600" dist="25400" dir="5400000">
              <a:srgbClr val="6B7B7B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17136" y="3282696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4517136" y="32826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🗺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26280" y="39319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D3E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Zone &amp; Dwell Engine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26280" y="42062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5B6E7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Named store zones with automatic dwell-time and flow-path tracking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8046720" y="3108960"/>
            <a:ext cx="3566160" cy="1600200"/>
          </a:xfrm>
          <a:prstGeom prst="roundRect">
            <a:avLst>
              <a:gd name="adj" fmla="val 6857"/>
            </a:avLst>
          </a:prstGeom>
          <a:solidFill>
            <a:srgbClr val="F2F6F6"/>
          </a:solidFill>
          <a:ln w="12700">
            <a:solidFill>
              <a:srgbClr val="D8E3E2"/>
            </a:solidFill>
            <a:prstDash val="solid"/>
          </a:ln>
          <a:effectLst>
            <a:outerShdw sx="100000" sy="100000" kx="0" ky="0" algn="bl" rotWithShape="0" blurRad="101600" dist="25400" dir="5400000">
              <a:srgbClr val="6B7B7B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66176" y="3282696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8266176" y="32826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⏳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275320" y="39319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D3E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Queue Intelligence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275320" y="42062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5B6E7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Live queue length and average wait time, with a busy/normal status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548640" y="4892040"/>
            <a:ext cx="3566160" cy="1600200"/>
          </a:xfrm>
          <a:prstGeom prst="roundRect">
            <a:avLst>
              <a:gd name="adj" fmla="val 6857"/>
            </a:avLst>
          </a:prstGeom>
          <a:solidFill>
            <a:srgbClr val="F2F6F6"/>
          </a:solidFill>
          <a:ln w="12700">
            <a:solidFill>
              <a:srgbClr val="D8E3E2"/>
            </a:solidFill>
            <a:prstDash val="solid"/>
          </a:ln>
          <a:effectLst>
            <a:outerShdw sx="100000" sy="100000" kx="0" ky="0" algn="bl" rotWithShape="0" blurRad="101600" dist="25400" dir="5400000">
              <a:srgbClr val="6B7B7B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68096" y="5065776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768096" y="50657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🔥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77240" y="57150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D3E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Movement Heatmap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77240" y="59893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5B6E7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Grid-based heatmap showing where traffic really concentrates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4297680" y="4892040"/>
            <a:ext cx="3566160" cy="1600200"/>
          </a:xfrm>
          <a:prstGeom prst="roundRect">
            <a:avLst>
              <a:gd name="adj" fmla="val 6857"/>
            </a:avLst>
          </a:prstGeom>
          <a:solidFill>
            <a:srgbClr val="F2F6F6"/>
          </a:solidFill>
          <a:ln w="12700">
            <a:solidFill>
              <a:srgbClr val="D8E3E2"/>
            </a:solidFill>
            <a:prstDash val="solid"/>
          </a:ln>
          <a:effectLst>
            <a:outerShdw sx="100000" sy="100000" kx="0" ky="0" algn="bl" rotWithShape="0" blurRad="101600" dist="25400" dir="5400000">
              <a:srgbClr val="6B7B7B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17136" y="5065776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4517136" y="50657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👥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526280" y="57150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D3E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Crowd Density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526280" y="59893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5B6E7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Per-frame occupancy for staffing and safety awareness</a:t>
            </a:r>
            <a:endParaRPr lang="en-US" sz="980" dirty="0"/>
          </a:p>
        </p:txBody>
      </p:sp>
      <p:sp>
        <p:nvSpPr>
          <p:cNvPr id="30" name="Shape 28"/>
          <p:cNvSpPr/>
          <p:nvPr/>
        </p:nvSpPr>
        <p:spPr>
          <a:xfrm>
            <a:off x="8046720" y="4892040"/>
            <a:ext cx="3566160" cy="1600200"/>
          </a:xfrm>
          <a:prstGeom prst="roundRect">
            <a:avLst>
              <a:gd name="adj" fmla="val 6857"/>
            </a:avLst>
          </a:prstGeom>
          <a:solidFill>
            <a:srgbClr val="F2F6F6"/>
          </a:solidFill>
          <a:ln w="12700">
            <a:solidFill>
              <a:srgbClr val="D8E3E2"/>
            </a:solidFill>
            <a:prstDash val="solid"/>
          </a:ln>
          <a:effectLst>
            <a:outerShdw sx="100000" sy="100000" kx="0" ky="0" algn="bl" rotWithShape="0" blurRad="101600" dist="25400" dir="5400000">
              <a:srgbClr val="6B7B7B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266176" y="5065776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2" name="Text 30"/>
          <p:cNvSpPr/>
          <p:nvPr/>
        </p:nvSpPr>
        <p:spPr>
          <a:xfrm>
            <a:off x="8266176" y="50657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✅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8275320" y="57150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D3E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Quality Evaluation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8275320" y="59893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5B6E7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Automated report scoring how reliable the tracking itself is</a:t>
            </a:r>
            <a:endParaRPr lang="en-US" sz="980" dirty="0"/>
          </a:p>
        </p:txBody>
      </p:sp>
      <p:sp>
        <p:nvSpPr>
          <p:cNvPr id="35" name="Text 33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B6E7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SMART RETAIL VIDEO ANALYTICS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E7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3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E0A339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SYSTEM PIPELINE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8F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Six stages, one continuous flow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1630680" cy="3566160"/>
          </a:xfrm>
          <a:prstGeom prst="roundRect">
            <a:avLst>
              <a:gd name="adj" fmla="val 7850"/>
            </a:avLst>
          </a:prstGeom>
          <a:solidFill>
            <a:srgbClr val="0F4A4B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2313432"/>
            <a:ext cx="1411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A339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43940" y="2788920"/>
            <a:ext cx="640080" cy="640080"/>
          </a:xfrm>
          <a:prstGeom prst="ellipse">
            <a:avLst/>
          </a:prstGeom>
          <a:solidFill>
            <a:srgbClr val="E0A339"/>
          </a:solidFill>
          <a:ln/>
        </p:spPr>
      </p:sp>
      <p:sp>
        <p:nvSpPr>
          <p:cNvPr id="7" name="Text 5"/>
          <p:cNvSpPr/>
          <p:nvPr/>
        </p:nvSpPr>
        <p:spPr>
          <a:xfrm>
            <a:off x="1043940" y="2788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B3D3E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🎯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76656" y="3657600"/>
            <a:ext cx="13746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4F8F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Person Detection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76656" y="4480560"/>
            <a:ext cx="13746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AFC6C4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YOLO finds every person, frame by frame</a:t>
            </a:r>
            <a:endParaRPr lang="en-US" sz="930" dirty="0"/>
          </a:p>
        </p:txBody>
      </p:sp>
      <p:sp>
        <p:nvSpPr>
          <p:cNvPr id="10" name="Text 8"/>
          <p:cNvSpPr/>
          <p:nvPr/>
        </p:nvSpPr>
        <p:spPr>
          <a:xfrm>
            <a:off x="2161032" y="3730752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0A339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435352" y="2148840"/>
            <a:ext cx="1630680" cy="3566160"/>
          </a:xfrm>
          <a:prstGeom prst="roundRect">
            <a:avLst>
              <a:gd name="adj" fmla="val 7850"/>
            </a:avLst>
          </a:prstGeom>
          <a:solidFill>
            <a:srgbClr val="0F4A4B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45080" y="2313432"/>
            <a:ext cx="1411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A339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930652" y="2788920"/>
            <a:ext cx="640080" cy="640080"/>
          </a:xfrm>
          <a:prstGeom prst="ellipse">
            <a:avLst/>
          </a:prstGeom>
          <a:solidFill>
            <a:srgbClr val="E0A339"/>
          </a:solidFill>
          <a:ln/>
        </p:spPr>
      </p:sp>
      <p:sp>
        <p:nvSpPr>
          <p:cNvPr id="14" name="Text 12"/>
          <p:cNvSpPr/>
          <p:nvPr/>
        </p:nvSpPr>
        <p:spPr>
          <a:xfrm>
            <a:off x="2930652" y="2788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B3D3E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🔗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563368" y="3657600"/>
            <a:ext cx="13746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4F8F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Multi-Object Tracking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63368" y="4480560"/>
            <a:ext cx="13746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AFC6C4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BoT-SORT gives each person a stable ID</a:t>
            </a:r>
            <a:endParaRPr lang="en-US" sz="930" dirty="0"/>
          </a:p>
        </p:txBody>
      </p:sp>
      <p:sp>
        <p:nvSpPr>
          <p:cNvPr id="17" name="Text 15"/>
          <p:cNvSpPr/>
          <p:nvPr/>
        </p:nvSpPr>
        <p:spPr>
          <a:xfrm>
            <a:off x="4047744" y="3730752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0A339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322064" y="2148840"/>
            <a:ext cx="1630680" cy="3566160"/>
          </a:xfrm>
          <a:prstGeom prst="roundRect">
            <a:avLst>
              <a:gd name="adj" fmla="val 7850"/>
            </a:avLst>
          </a:prstGeom>
          <a:solidFill>
            <a:srgbClr val="0F4A4B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31792" y="2313432"/>
            <a:ext cx="1411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A339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17364" y="2788920"/>
            <a:ext cx="640080" cy="640080"/>
          </a:xfrm>
          <a:prstGeom prst="ellipse">
            <a:avLst/>
          </a:prstGeom>
          <a:solidFill>
            <a:srgbClr val="E0A339"/>
          </a:solidFill>
          <a:ln/>
        </p:spPr>
      </p:sp>
      <p:sp>
        <p:nvSpPr>
          <p:cNvPr id="21" name="Text 19"/>
          <p:cNvSpPr/>
          <p:nvPr/>
        </p:nvSpPr>
        <p:spPr>
          <a:xfrm>
            <a:off x="4817364" y="2788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B3D3E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🗺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450080" y="3657600"/>
            <a:ext cx="13746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4F8F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Zones &amp; Dwell Time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450080" y="4480560"/>
            <a:ext cx="13746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AFC6C4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Positions mapped to named store zones</a:t>
            </a:r>
            <a:endParaRPr lang="en-US" sz="930" dirty="0"/>
          </a:p>
        </p:txBody>
      </p:sp>
      <p:sp>
        <p:nvSpPr>
          <p:cNvPr id="24" name="Text 22"/>
          <p:cNvSpPr/>
          <p:nvPr/>
        </p:nvSpPr>
        <p:spPr>
          <a:xfrm>
            <a:off x="5934456" y="3730752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0A339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208776" y="2148840"/>
            <a:ext cx="1630680" cy="3566160"/>
          </a:xfrm>
          <a:prstGeom prst="roundRect">
            <a:avLst>
              <a:gd name="adj" fmla="val 7850"/>
            </a:avLst>
          </a:prstGeom>
          <a:solidFill>
            <a:srgbClr val="0F4A4B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18504" y="2313432"/>
            <a:ext cx="1411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A339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04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704076" y="2788920"/>
            <a:ext cx="640080" cy="640080"/>
          </a:xfrm>
          <a:prstGeom prst="ellipse">
            <a:avLst/>
          </a:prstGeom>
          <a:solidFill>
            <a:srgbClr val="E0A339"/>
          </a:solidFill>
          <a:ln/>
        </p:spPr>
      </p:sp>
      <p:sp>
        <p:nvSpPr>
          <p:cNvPr id="28" name="Text 26"/>
          <p:cNvSpPr/>
          <p:nvPr/>
        </p:nvSpPr>
        <p:spPr>
          <a:xfrm>
            <a:off x="6704076" y="2788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B3D3E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📊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336792" y="3657600"/>
            <a:ext cx="13746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4F8F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Retail Analytics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336792" y="4480560"/>
            <a:ext cx="13746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AFC6C4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Queue, heatmap &amp; crowd density computed</a:t>
            </a:r>
            <a:endParaRPr lang="en-US" sz="930" dirty="0"/>
          </a:p>
        </p:txBody>
      </p:sp>
      <p:sp>
        <p:nvSpPr>
          <p:cNvPr id="31" name="Text 29"/>
          <p:cNvSpPr/>
          <p:nvPr/>
        </p:nvSpPr>
        <p:spPr>
          <a:xfrm>
            <a:off x="7821168" y="3730752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0A339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→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095488" y="2148840"/>
            <a:ext cx="1630680" cy="3566160"/>
          </a:xfrm>
          <a:prstGeom prst="roundRect">
            <a:avLst>
              <a:gd name="adj" fmla="val 7850"/>
            </a:avLst>
          </a:prstGeom>
          <a:solidFill>
            <a:srgbClr val="0F4A4B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05216" y="2313432"/>
            <a:ext cx="1411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A339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05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8590788" y="2788920"/>
            <a:ext cx="640080" cy="640080"/>
          </a:xfrm>
          <a:prstGeom prst="ellipse">
            <a:avLst/>
          </a:prstGeom>
          <a:solidFill>
            <a:srgbClr val="E0A339"/>
          </a:solidFill>
          <a:ln/>
        </p:spPr>
      </p:sp>
      <p:sp>
        <p:nvSpPr>
          <p:cNvPr id="35" name="Text 33"/>
          <p:cNvSpPr/>
          <p:nvPr/>
        </p:nvSpPr>
        <p:spPr>
          <a:xfrm>
            <a:off x="8590788" y="2788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B3D3E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✅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8223504" y="3657600"/>
            <a:ext cx="13746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4F8F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Model Evaluation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223504" y="4480560"/>
            <a:ext cx="13746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AFC6C4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Automated tracking-quality report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9707880" y="3730752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0A339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→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9982200" y="2148840"/>
            <a:ext cx="1630680" cy="3566160"/>
          </a:xfrm>
          <a:prstGeom prst="roundRect">
            <a:avLst>
              <a:gd name="adj" fmla="val 7850"/>
            </a:avLst>
          </a:prstGeom>
          <a:solidFill>
            <a:srgbClr val="0F4A4B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091928" y="2313432"/>
            <a:ext cx="1411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A339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06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10477500" y="2788920"/>
            <a:ext cx="640080" cy="640080"/>
          </a:xfrm>
          <a:prstGeom prst="ellipse">
            <a:avLst/>
          </a:prstGeom>
          <a:solidFill>
            <a:srgbClr val="E0A339"/>
          </a:solidFill>
          <a:ln/>
        </p:spPr>
      </p:sp>
      <p:sp>
        <p:nvSpPr>
          <p:cNvPr id="42" name="Text 40"/>
          <p:cNvSpPr/>
          <p:nvPr/>
        </p:nvSpPr>
        <p:spPr>
          <a:xfrm>
            <a:off x="10477500" y="2788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B3D3E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🖥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10110216" y="3657600"/>
            <a:ext cx="13746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4F8F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0110216" y="4480560"/>
            <a:ext cx="13746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AFC6C4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Live Gradio app for the whole team</a:t>
            </a:r>
            <a:endParaRPr lang="en-US" sz="930" dirty="0"/>
          </a:p>
        </p:txBody>
      </p:sp>
      <p:sp>
        <p:nvSpPr>
          <p:cNvPr id="45" name="Text 43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FC6C4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SMART RETAIL VIDEO ANALYTICS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C6C4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E0A339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DETECTION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B2C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Person Detection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383280" cy="4343400"/>
          </a:xfrm>
          <a:prstGeom prst="roundRect">
            <a:avLst>
              <a:gd name="adj" fmla="val 3243"/>
            </a:avLst>
          </a:prstGeom>
          <a:solidFill>
            <a:srgbClr val="0B3D3E"/>
          </a:solidFill>
          <a:ln/>
          <a:effectLst>
            <a:outerShdw sx="100000" sy="100000" kx="0" ky="0" algn="bl" rotWithShape="0" blurRad="101600" dist="25400" dir="5400000">
              <a:srgbClr val="6B7B7B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714500" y="2308860"/>
            <a:ext cx="1051560" cy="1051560"/>
          </a:xfrm>
          <a:prstGeom prst="ellipse">
            <a:avLst/>
          </a:prstGeom>
          <a:solidFill>
            <a:srgbClr val="E0A339"/>
          </a:solidFill>
          <a:ln/>
        </p:spPr>
      </p:sp>
      <p:sp>
        <p:nvSpPr>
          <p:cNvPr id="6" name="Text 4"/>
          <p:cNvSpPr/>
          <p:nvPr/>
        </p:nvSpPr>
        <p:spPr>
          <a:xfrm>
            <a:off x="1714500" y="230886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B3D3E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🎯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48640" y="36118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4F8F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STEP 01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914400" y="4343400"/>
            <a:ext cx="2651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FC6C4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The entry point of the whole pipeline — every downstream metric depends on getting this right.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06240" y="1965960"/>
            <a:ext cx="7406640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2700">
            <a:solidFill>
              <a:srgbClr val="D8E3E2"/>
            </a:solidFill>
            <a:prstDash val="solid"/>
          </a:ln>
          <a:effectLst>
            <a:outerShdw sx="100000" sy="100000" kx="0" ky="0" algn="bl" rotWithShape="0" blurRad="101600" dist="25400" dir="5400000">
              <a:srgbClr val="6B7B7B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0" y="22402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3E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How it works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0" y="2697480"/>
            <a:ext cx="66751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142B2C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A YOLO object-detection model scans every video frame and locates all visible people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142B2C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Detections are filtered to the “person” class only, ignoring shelves, carts, products and other objects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142B2C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A confidence threshold (tuned to 0.4) balances catching real people against false detections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142B2C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Output for each frame is a set of bounding boxes — the raw input the tracker needs next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B6E7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SMART RETAIL VIDEO ANALYTICS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E7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E0A339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TRACKING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B2C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Multi-Object Tracking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383280" cy="4343400"/>
          </a:xfrm>
          <a:prstGeom prst="roundRect">
            <a:avLst>
              <a:gd name="adj" fmla="val 3243"/>
            </a:avLst>
          </a:prstGeom>
          <a:solidFill>
            <a:srgbClr val="0B3D3E"/>
          </a:solidFill>
          <a:ln/>
          <a:effectLst>
            <a:outerShdw sx="100000" sy="100000" kx="0" ky="0" algn="bl" rotWithShape="0" blurRad="101600" dist="25400" dir="5400000">
              <a:srgbClr val="6B7B7B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714500" y="2308860"/>
            <a:ext cx="1051560" cy="1051560"/>
          </a:xfrm>
          <a:prstGeom prst="ellipse">
            <a:avLst/>
          </a:prstGeom>
          <a:solidFill>
            <a:srgbClr val="E0A339"/>
          </a:solidFill>
          <a:ln/>
        </p:spPr>
      </p:sp>
      <p:sp>
        <p:nvSpPr>
          <p:cNvPr id="6" name="Text 4"/>
          <p:cNvSpPr/>
          <p:nvPr/>
        </p:nvSpPr>
        <p:spPr>
          <a:xfrm>
            <a:off x="1714500" y="230886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B3D3E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🔗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48640" y="36118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4F8F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STEP 02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914400" y="4343400"/>
            <a:ext cx="2651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FC6C4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Detection alone isn't enough — we need to know that the person in frame 200 is the same person as in frame 50.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06240" y="1965960"/>
            <a:ext cx="7406640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2700">
            <a:solidFill>
              <a:srgbClr val="D8E3E2"/>
            </a:solidFill>
            <a:prstDash val="solid"/>
          </a:ln>
          <a:effectLst>
            <a:outerShdw sx="100000" sy="100000" kx="0" ky="0" algn="bl" rotWithShape="0" blurRad="101600" dist="25400" dir="5400000">
              <a:srgbClr val="6B7B7B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0" y="22402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3E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How it works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0" y="2697480"/>
            <a:ext cx="66751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142B2C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Detections are handed to the BoT-SORT tracker, which assigns and maintains a unique ID per person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142B2C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BoT-SORT combines motion prediction with appearance matching, so a person briefly hidden behind another shopper keeps their original ID instead of getting a new one — solving the classic “ID switch” problem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142B2C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Tracking runs in persistent mode, remembering people across frames rather than forgetting them instantly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142B2C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The IOU threshold (0.5) is tuned to avoid duplicate or overlapping boxes confusing the matcher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142B2C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Each raw track is mapped to a clean display ID, and a short movement trail is drawn per person for visual verification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B6E7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SMART RETAIL VIDEO ANALYTICS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E7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E0A339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STORE ZONES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B2C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Zones &amp; Dwell Time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383280" cy="4343400"/>
          </a:xfrm>
          <a:prstGeom prst="roundRect">
            <a:avLst>
              <a:gd name="adj" fmla="val 3243"/>
            </a:avLst>
          </a:prstGeom>
          <a:solidFill>
            <a:srgbClr val="0B3D3E"/>
          </a:solidFill>
          <a:ln/>
          <a:effectLst>
            <a:outerShdw sx="100000" sy="100000" kx="0" ky="0" algn="bl" rotWithShape="0" blurRad="101600" dist="25400" dir="5400000">
              <a:srgbClr val="6B7B7B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714500" y="2308860"/>
            <a:ext cx="1051560" cy="1051560"/>
          </a:xfrm>
          <a:prstGeom prst="ellipse">
            <a:avLst/>
          </a:prstGeom>
          <a:solidFill>
            <a:srgbClr val="E0A339"/>
          </a:solidFill>
          <a:ln/>
        </p:spPr>
      </p:sp>
      <p:sp>
        <p:nvSpPr>
          <p:cNvPr id="6" name="Text 4"/>
          <p:cNvSpPr/>
          <p:nvPr/>
        </p:nvSpPr>
        <p:spPr>
          <a:xfrm>
            <a:off x="1714500" y="230886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B3D3E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🗺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48640" y="36118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4F8F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STEP 03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914400" y="4343400"/>
            <a:ext cx="2651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FC6C4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Turning an (x, y) position into something a store manager understands: which part of the store, and for how long.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06240" y="1965960"/>
            <a:ext cx="7406640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2700">
            <a:solidFill>
              <a:srgbClr val="D8E3E2"/>
            </a:solidFill>
            <a:prstDash val="solid"/>
          </a:ln>
          <a:effectLst>
            <a:outerShdw sx="100000" sy="100000" kx="0" ky="0" algn="bl" rotWithShape="0" blurRad="101600" dist="25400" dir="5400000">
              <a:srgbClr val="6B7B7B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0" y="22402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3E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How it works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0" y="2697480"/>
            <a:ext cx="66751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142B2C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The store floor is divided into six named zones (five shelf areas plus the entrance) using normalized coordinates, so the same zone layout scales to any frame resolution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142B2C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Every tracked person's position is checked each frame to see which zone they're currently in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142B2C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Time spent continuously inside a zone is accumulated into that person's dwell total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142B2C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A minimum dwell threshold (2 seconds) filters out people just passing through, so only genuine interest counts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142B2C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Output: average dwell time per zone, and the most common zone-to-zone paths customers actually walk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B6E7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SMART RETAIL VIDEO ANALYTICS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E7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E0A339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RETAIL ANALYTICS · QUEUE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B2C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Queue Detection &amp; Wait Time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383280" cy="4343400"/>
          </a:xfrm>
          <a:prstGeom prst="roundRect">
            <a:avLst>
              <a:gd name="adj" fmla="val 3243"/>
            </a:avLst>
          </a:prstGeom>
          <a:solidFill>
            <a:srgbClr val="0B3D3E"/>
          </a:solidFill>
          <a:ln/>
          <a:effectLst>
            <a:outerShdw sx="100000" sy="100000" kx="0" ky="0" algn="bl" rotWithShape="0" blurRad="101600" dist="25400" dir="5400000">
              <a:srgbClr val="6B7B7B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714500" y="2308860"/>
            <a:ext cx="1051560" cy="1051560"/>
          </a:xfrm>
          <a:prstGeom prst="ellipse">
            <a:avLst/>
          </a:prstGeom>
          <a:solidFill>
            <a:srgbClr val="E0A339"/>
          </a:solidFill>
          <a:ln/>
        </p:spPr>
      </p:sp>
      <p:sp>
        <p:nvSpPr>
          <p:cNvPr id="6" name="Text 4"/>
          <p:cNvSpPr/>
          <p:nvPr/>
        </p:nvSpPr>
        <p:spPr>
          <a:xfrm>
            <a:off x="1714500" y="230886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B3D3E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⏳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48640" y="36118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4F8F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STEP 04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914400" y="4343400"/>
            <a:ext cx="2651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FC6C4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Queues are one of the clearest signals of a store under pressure — this stage watches one zone specifically for it.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06240" y="1965960"/>
            <a:ext cx="7406640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2700">
            <a:solidFill>
              <a:srgbClr val="D8E3E2"/>
            </a:solidFill>
            <a:prstDash val="solid"/>
          </a:ln>
          <a:effectLst>
            <a:outerShdw sx="100000" sy="100000" kx="0" ky="0" algn="bl" rotWithShape="0" blurRad="101600" dist="25400" dir="5400000">
              <a:srgbClr val="6B7B7B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0" y="22402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3E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How it works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0" y="2697480"/>
            <a:ext cx="66751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142B2C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One zone is designated as the queue zone (the checkout / center-aisle area)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142B2C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The moment a tracked person enters that zone, their entry time is stored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142B2C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Wait time for each person in the queue is simply the current time minus their entry time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142B2C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Live queue count and average wait time are recalculated continuously as the video plays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142B2C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A configurable busy threshold flags the queue as “Busy” once enough people are waiting — the kind of signal that could trigger a staff alert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B6E7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SMART RETAIL VIDEO ANALYTICS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E7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E0A339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RETAIL ANALYTICS · HEATMAP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B2C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Customer Movement Heatmap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383280" cy="4343400"/>
          </a:xfrm>
          <a:prstGeom prst="roundRect">
            <a:avLst>
              <a:gd name="adj" fmla="val 3243"/>
            </a:avLst>
          </a:prstGeom>
          <a:solidFill>
            <a:srgbClr val="0B3D3E"/>
          </a:solidFill>
          <a:ln/>
          <a:effectLst>
            <a:outerShdw sx="100000" sy="100000" kx="0" ky="0" algn="bl" rotWithShape="0" blurRad="101600" dist="25400" dir="5400000">
              <a:srgbClr val="6B7B7B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714500" y="2308860"/>
            <a:ext cx="1051560" cy="1051560"/>
          </a:xfrm>
          <a:prstGeom prst="ellipse">
            <a:avLst/>
          </a:prstGeom>
          <a:solidFill>
            <a:srgbClr val="E0A339"/>
          </a:solidFill>
          <a:ln/>
        </p:spPr>
      </p:sp>
      <p:sp>
        <p:nvSpPr>
          <p:cNvPr id="6" name="Text 4"/>
          <p:cNvSpPr/>
          <p:nvPr/>
        </p:nvSpPr>
        <p:spPr>
          <a:xfrm>
            <a:off x="1714500" y="230886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B3D3E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🔥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48640" y="36118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4F8F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STEP 05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914400" y="4343400"/>
            <a:ext cx="2651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FC6C4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A single image that answers a merchandising question in one glance: where does foot traffic actually go?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06240" y="1965960"/>
            <a:ext cx="7406640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2700">
            <a:solidFill>
              <a:srgbClr val="D8E3E2"/>
            </a:solidFill>
            <a:prstDash val="solid"/>
          </a:ln>
          <a:effectLst>
            <a:outerShdw sx="100000" sy="100000" kx="0" ky="0" algn="bl" rotWithShape="0" blurRad="101600" dist="25400" dir="5400000">
              <a:srgbClr val="6B7B7B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0" y="22402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3E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How it works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0" y="2697480"/>
            <a:ext cx="66751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142B2C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The frame is divided into a 20×20 grid; every detected person's position adds weight to the grid cell they're standing in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142B2C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Neighboring cells receive a smaller boost too, producing a smooth gradient instead of sharp, blocky spots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142B2C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Accumulated grid values are normalized and rendered with a color map, from cold (low traffic) to hot (high traffic)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142B2C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The result highlights which shelves and aisles genuinely attract customers versus which are consistently ignored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142B2C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Directly useful for merchandising and promotional placement decisions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B6E7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SMART RETAIL VIDEO ANALYTICS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E7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E0A339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RETAIL ANALYTICS · CROWD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B2C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Crowd Density Analytics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383280" cy="4343400"/>
          </a:xfrm>
          <a:prstGeom prst="roundRect">
            <a:avLst>
              <a:gd name="adj" fmla="val 3243"/>
            </a:avLst>
          </a:prstGeom>
          <a:solidFill>
            <a:srgbClr val="0B3D3E"/>
          </a:solidFill>
          <a:ln/>
          <a:effectLst>
            <a:outerShdw sx="100000" sy="100000" kx="0" ky="0" algn="bl" rotWithShape="0" blurRad="101600" dist="25400" dir="5400000">
              <a:srgbClr val="6B7B7B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714500" y="2308860"/>
            <a:ext cx="1051560" cy="1051560"/>
          </a:xfrm>
          <a:prstGeom prst="ellipse">
            <a:avLst/>
          </a:prstGeom>
          <a:solidFill>
            <a:srgbClr val="E0A339"/>
          </a:solidFill>
          <a:ln/>
        </p:spPr>
      </p:sp>
      <p:sp>
        <p:nvSpPr>
          <p:cNvPr id="6" name="Text 4"/>
          <p:cNvSpPr/>
          <p:nvPr/>
        </p:nvSpPr>
        <p:spPr>
          <a:xfrm>
            <a:off x="1714500" y="230886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B3D3E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👥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48640" y="36118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4F8F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STEP 06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914400" y="4343400"/>
            <a:ext cx="2651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FC6C4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A simple metric with real operational value: how many people are actually in the store at once?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06240" y="1965960"/>
            <a:ext cx="7406640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2700">
            <a:solidFill>
              <a:srgbClr val="D8E3E2"/>
            </a:solidFill>
            <a:prstDash val="solid"/>
          </a:ln>
          <a:effectLst>
            <a:outerShdw sx="100000" sy="100000" kx="0" ky="0" algn="bl" rotWithShape="0" blurRad="101600" dist="25400" dir="5400000">
              <a:srgbClr val="6B7B7B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0" y="22402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3E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How it works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0" y="2697480"/>
            <a:ext cx="66751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142B2C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The number of currently-tracked people is recorded for every processed frame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142B2C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Across the full clip, average, minimum and maximum crowd size are calculated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142B2C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A rising average signals it may be time to open another till or add floor staff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142B2C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The same signal doubles as a lightweight occupancy / safety indicator for busy periods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B6E7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SMART RETAIL VIDEO ANALYTICS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E7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E0A339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QUALITY CONTROL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789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B2C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Measuring how well the tracking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142B2C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actually performed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606040" cy="1600200"/>
          </a:xfrm>
          <a:prstGeom prst="roundRect">
            <a:avLst>
              <a:gd name="adj" fmla="val 6857"/>
            </a:avLst>
          </a:prstGeom>
          <a:solidFill>
            <a:srgbClr val="EAF1F1"/>
          </a:solidFill>
          <a:ln w="12700">
            <a:solidFill>
              <a:srgbClr val="D8E3E2"/>
            </a:solidFill>
            <a:prstDash val="solid"/>
          </a:ln>
          <a:effectLst>
            <a:outerShdw sx="100000" sy="100000" kx="0" ky="0" algn="bl" rotWithShape="0" blurRad="101600" dist="25400" dir="5400000">
              <a:srgbClr val="6B7B7B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23774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0A339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FPS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85800" y="29718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3D3E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Processing speed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85800" y="32461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B6E7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Frames analyzed per second — a throughput / efficiency signal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355848" y="2194560"/>
            <a:ext cx="2606040" cy="1600200"/>
          </a:xfrm>
          <a:prstGeom prst="roundRect">
            <a:avLst>
              <a:gd name="adj" fmla="val 6857"/>
            </a:avLst>
          </a:prstGeom>
          <a:solidFill>
            <a:srgbClr val="EAF1F1"/>
          </a:solidFill>
          <a:ln w="12700">
            <a:solidFill>
              <a:srgbClr val="D8E3E2"/>
            </a:solidFill>
            <a:prstDash val="solid"/>
          </a:ln>
          <a:effectLst>
            <a:outerShdw sx="100000" sy="100000" kx="0" ky="0" algn="bl" rotWithShape="0" blurRad="101600" dist="25400" dir="5400000">
              <a:srgbClr val="6B7B7B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55848" y="23774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0A339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IDs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493008" y="29718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3D3E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Unique people tracked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493008" y="32461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B6E7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Total distinct display IDs seen across the whole clip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163056" y="2194560"/>
            <a:ext cx="2606040" cy="1600200"/>
          </a:xfrm>
          <a:prstGeom prst="roundRect">
            <a:avLst>
              <a:gd name="adj" fmla="val 6857"/>
            </a:avLst>
          </a:prstGeom>
          <a:solidFill>
            <a:srgbClr val="EAF1F1"/>
          </a:solidFill>
          <a:ln w="12700">
            <a:solidFill>
              <a:srgbClr val="D8E3E2"/>
            </a:solidFill>
            <a:prstDash val="solid"/>
          </a:ln>
          <a:effectLst>
            <a:outerShdw sx="100000" sy="100000" kx="0" ky="0" algn="bl" rotWithShape="0" blurRad="101600" dist="25400" dir="5400000">
              <a:srgbClr val="6B7B7B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63056" y="23774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0A339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FRAMES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300216" y="29718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3D3E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Avg. track length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300216" y="32461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B6E7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How many frames, on average, each ID stayed continuously visible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970264" y="2194560"/>
            <a:ext cx="2606040" cy="1600200"/>
          </a:xfrm>
          <a:prstGeom prst="roundRect">
            <a:avLst>
              <a:gd name="adj" fmla="val 6857"/>
            </a:avLst>
          </a:prstGeom>
          <a:solidFill>
            <a:srgbClr val="EAF1F1"/>
          </a:solidFill>
          <a:ln w="12700">
            <a:solidFill>
              <a:srgbClr val="D8E3E2"/>
            </a:solidFill>
            <a:prstDash val="solid"/>
          </a:ln>
          <a:effectLst>
            <a:outerShdw sx="100000" sy="100000" kx="0" ky="0" algn="bl" rotWithShape="0" blurRad="101600" dist="25400" dir="5400000">
              <a:srgbClr val="6B7B7B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970264" y="23774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0A339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%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107424" y="29718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3D3E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Fragmentation rate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107424" y="32461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B6E7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Share of IDs that only lasted a few frames — our proxy for ID switches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" y="4069080"/>
            <a:ext cx="11064240" cy="2194560"/>
          </a:xfrm>
          <a:prstGeom prst="roundRect">
            <a:avLst>
              <a:gd name="adj" fmla="val 5000"/>
            </a:avLst>
          </a:prstGeom>
          <a:solidFill>
            <a:srgbClr val="0B3D3E"/>
          </a:solidFill>
          <a:ln/>
          <a:effectLst>
            <a:outerShdw sx="100000" sy="100000" kx="0" ky="0" algn="bl" rotWithShape="0" blurRad="101600" dist="25400" dir="5400000">
              <a:srgbClr val="6B7B7B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14400" y="4297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0A339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Why this matters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914400" y="4709160"/>
            <a:ext cx="10332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4F8F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A short evaluation report is generated automatically after every run, instead of eyeballing the annotated video</a:t>
            </a:r>
            <a:endParaRPr lang="en-US" sz="12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4F8F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The fragmentation rate translates directly into a plain-language quality label: Excellent, Good, or Needs Improvement</a:t>
            </a:r>
            <a:endParaRPr lang="en-US" sz="12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4F8F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This gives an objective way to compare settings (confidence, IOU) and pick the ones that keep IDs the most stable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B6E7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SMART RETAIL VIDEO ANALYTICS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E7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E0A339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DELIVERY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B2C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A live dashboard, not just a notebook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E7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Every stage above is wrapped in an interactive Gradio web app, so any team member — technical or not — can run the full pipeline on a new clip without touching code.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2F6F6"/>
          </a:solidFill>
          <a:ln w="12700">
            <a:solidFill>
              <a:srgbClr val="D8E3E2"/>
            </a:solidFill>
            <a:prstDash val="solid"/>
          </a:ln>
          <a:effectLst>
            <a:outerShdw sx="100000" sy="100000" kx="0" ky="0" algn="bl" rotWithShape="0" blurRad="101600" dist="25400" dir="5400000">
              <a:srgbClr val="6B7B7B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0664" y="2505456"/>
            <a:ext cx="530352" cy="5303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740664" y="25054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📤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108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D3E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Upload &amp; tune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36499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5B6E7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Upload any store clip and adjust confidence, IOU, dwell and queue thresholds with sliders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4297680" y="233172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2F6F6"/>
          </a:solidFill>
          <a:ln w="12700">
            <a:solidFill>
              <a:srgbClr val="D8E3E2"/>
            </a:solidFill>
            <a:prstDash val="solid"/>
          </a:ln>
          <a:effectLst>
            <a:outerShdw sx="100000" sy="100000" kx="0" ky="0" algn="bl" rotWithShape="0" blurRad="101600" dist="25400" dir="5400000">
              <a:srgbClr val="6B7B7B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89704" y="2505456"/>
            <a:ext cx="530352" cy="5303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4489704" y="25054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📺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480560" y="3108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D3E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Live preview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80560" y="336499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5B6E7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Watch the annotated video and live queue / crowd stats update while it's still processing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8046720" y="233172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2F6F6"/>
          </a:solidFill>
          <a:ln w="12700">
            <a:solidFill>
              <a:srgbClr val="D8E3E2"/>
            </a:solidFill>
            <a:prstDash val="solid"/>
          </a:ln>
          <a:effectLst>
            <a:outerShdw sx="100000" sy="100000" kx="0" ky="0" algn="bl" rotWithShape="0" blurRad="101600" dist="25400" dir="5400000">
              <a:srgbClr val="6B7B7B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38744" y="2505456"/>
            <a:ext cx="530352" cy="5303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8238744" y="25054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🎞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0" y="3108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D3E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Final outputs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0" y="336499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5B6E7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Tracked video, movement heatmap, zone dwell table and flow patterns, all in one screen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548640" y="406908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2F6F6"/>
          </a:solidFill>
          <a:ln w="12700">
            <a:solidFill>
              <a:srgbClr val="D8E3E2"/>
            </a:solidFill>
            <a:prstDash val="solid"/>
          </a:ln>
          <a:effectLst>
            <a:outerShdw sx="100000" sy="100000" kx="0" ky="0" algn="bl" rotWithShape="0" blurRad="101600" dist="25400" dir="5400000">
              <a:srgbClr val="6B7B7B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40664" y="4242816"/>
            <a:ext cx="530352" cy="5303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740664" y="424281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📄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31520" y="4846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D3E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Evaluation report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31520" y="510235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5B6E7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Automatic tracking-quality summary with a plain-language rating</a:t>
            </a:r>
            <a:endParaRPr lang="en-US" sz="930" dirty="0"/>
          </a:p>
        </p:txBody>
      </p:sp>
      <p:sp>
        <p:nvSpPr>
          <p:cNvPr id="25" name="Shape 23"/>
          <p:cNvSpPr/>
          <p:nvPr/>
        </p:nvSpPr>
        <p:spPr>
          <a:xfrm>
            <a:off x="4297680" y="406908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2F6F6"/>
          </a:solidFill>
          <a:ln w="12700">
            <a:solidFill>
              <a:srgbClr val="D8E3E2"/>
            </a:solidFill>
            <a:prstDash val="solid"/>
          </a:ln>
          <a:effectLst>
            <a:outerShdw sx="100000" sy="100000" kx="0" ky="0" algn="bl" rotWithShape="0" blurRad="101600" dist="25400" dir="5400000">
              <a:srgbClr val="6B7B7B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489704" y="4242816"/>
            <a:ext cx="530352" cy="5303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4489704" y="424281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⬇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480560" y="4846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D3E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Raw data export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480560" y="510235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5B6E7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Full frame-by-frame tracking data downloadable as JSON for further analysis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8046720" y="406908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2F6F6"/>
          </a:solidFill>
          <a:ln w="12700">
            <a:solidFill>
              <a:srgbClr val="D8E3E2"/>
            </a:solidFill>
            <a:prstDash val="solid"/>
          </a:ln>
          <a:effectLst>
            <a:outerShdw sx="100000" sy="100000" kx="0" ky="0" algn="bl" rotWithShape="0" blurRad="101600" dist="25400" dir="5400000">
              <a:srgbClr val="6B7B7B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238744" y="4242816"/>
            <a:ext cx="530352" cy="5303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2" name="Text 30"/>
          <p:cNvSpPr/>
          <p:nvPr/>
        </p:nvSpPr>
        <p:spPr>
          <a:xfrm>
            <a:off x="8238744" y="424281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🎨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229600" y="4846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D3E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Consistent theme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229600" y="510235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5B6E7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Styled to match the team's broader analytics look, so it reads as one product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B6E7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SMART RETAIL VIDEO ANALYTICS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E7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E0A339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THE TEAM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B2C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Who built what — team contributions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E7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Here's a breakdown of each team member's role and the contributions they made to the project.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984248"/>
            <a:ext cx="731520" cy="731520"/>
          </a:xfrm>
          <a:prstGeom prst="ellipse">
            <a:avLst/>
          </a:prstGeom>
          <a:ln w="15875">
            <a:solidFill>
              <a:srgbClr val="0B3D3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2039112"/>
            <a:ext cx="621792" cy="62179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203911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B3D3E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NA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71600" y="205740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D3E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Nourhan Adel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371600" y="2350008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2B2C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Role: </a:t>
            </a:r>
            <a:pPr indent="0" marL="0">
              <a:buNone/>
            </a:pPr>
            <a:r>
              <a:rPr lang="en-US" sz="1050" dirty="0">
                <a:solidFill>
                  <a:srgbClr val="5B6E7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Multi-Object Tracking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2743200"/>
            <a:ext cx="3611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5B6E7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Developed tracking logic for multiple people across frames</a:t>
            </a:r>
            <a:endParaRPr lang="en-US" sz="900" dirty="0"/>
          </a:p>
          <a:p>
            <a:pPr marL="177800" indent="-1778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5B6E7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Improved identity consistency during movement</a:t>
            </a:r>
            <a:endParaRPr lang="en-US" sz="900" dirty="0"/>
          </a:p>
          <a:p>
            <a:pPr marL="177800" indent="-1778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5B6E7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Helped reduce tracking loss in crowded scenes</a:t>
            </a:r>
            <a:endParaRPr lang="en-US" sz="900" dirty="0"/>
          </a:p>
          <a:p>
            <a:pPr marL="177800" indent="-1778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5B6E7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Supported integration with the detection pipeline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434840" y="1984248"/>
            <a:ext cx="731520" cy="731520"/>
          </a:xfrm>
          <a:prstGeom prst="ellipse">
            <a:avLst/>
          </a:prstGeom>
          <a:ln w="15875">
            <a:solidFill>
              <a:srgbClr val="0B3D3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89704" y="2039112"/>
            <a:ext cx="621792" cy="62179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4489704" y="203911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B3D3E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RF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239512" y="205740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D3E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Rofida Fahd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239512" y="2350008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2B2C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Role: </a:t>
            </a:r>
            <a:pPr indent="0" marL="0">
              <a:buNone/>
            </a:pPr>
            <a:r>
              <a:rPr lang="en-US" sz="1050" dirty="0">
                <a:solidFill>
                  <a:srgbClr val="5B6E7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Person Detection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416552" y="2743200"/>
            <a:ext cx="3611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5B6E7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Built the person detection component for retail scenes</a:t>
            </a:r>
            <a:endParaRPr lang="en-US" sz="900" dirty="0"/>
          </a:p>
          <a:p>
            <a:pPr marL="177800" indent="-1778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5B6E7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Refined detection performance across varied camera views</a:t>
            </a:r>
            <a:endParaRPr lang="en-US" sz="900" dirty="0"/>
          </a:p>
          <a:p>
            <a:pPr marL="177800" indent="-1778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5B6E7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Assisted with model tuning and threshold selection</a:t>
            </a:r>
            <a:endParaRPr lang="en-US" sz="900" dirty="0"/>
          </a:p>
          <a:p>
            <a:pPr marL="177800" indent="-1778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5B6E7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Validated detection outputs on test footage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302752" y="1984248"/>
            <a:ext cx="731520" cy="731520"/>
          </a:xfrm>
          <a:prstGeom prst="ellipse">
            <a:avLst/>
          </a:prstGeom>
          <a:ln w="15875">
            <a:solidFill>
              <a:srgbClr val="0B3D3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57616" y="2039112"/>
            <a:ext cx="621792" cy="62179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8357616" y="203911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B3D3E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HM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07424" y="205740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D3E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Habiba Mohamed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9107424" y="2350008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2B2C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Role: </a:t>
            </a:r>
            <a:pPr indent="0" marL="0">
              <a:buNone/>
            </a:pPr>
            <a:r>
              <a:rPr lang="en-US" sz="1050" dirty="0">
                <a:solidFill>
                  <a:srgbClr val="5B6E7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Customer Movement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284464" y="2743200"/>
            <a:ext cx="3611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5B6E7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Analyzed customer movement patterns through the store</a:t>
            </a:r>
            <a:endParaRPr lang="en-US" sz="900" dirty="0"/>
          </a:p>
          <a:p>
            <a:pPr marL="177800" indent="-1778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5B6E7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Mapped common paths and behavior trends</a:t>
            </a:r>
            <a:endParaRPr lang="en-US" sz="900" dirty="0"/>
          </a:p>
          <a:p>
            <a:pPr marL="177800" indent="-1778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5B6E7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Contributed to movement-based retail insights</a:t>
            </a:r>
            <a:endParaRPr lang="en-US" sz="900" dirty="0"/>
          </a:p>
          <a:p>
            <a:pPr marL="177800" indent="-1778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5B6E7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Helped transform tracking data into actionable metrics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66928" y="4544568"/>
            <a:ext cx="731520" cy="731520"/>
          </a:xfrm>
          <a:prstGeom prst="ellipse">
            <a:avLst/>
          </a:prstGeom>
          <a:ln w="15875">
            <a:solidFill>
              <a:srgbClr val="0B3D3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1792" y="4599432"/>
            <a:ext cx="621792" cy="62179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" y="459943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B3D3E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SM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371600" y="461772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D3E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Shahd Mostafa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371600" y="4910328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2B2C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Role: </a:t>
            </a:r>
            <a:pPr indent="0" marL="0">
              <a:buNone/>
            </a:pPr>
            <a:r>
              <a:rPr lang="en-US" sz="1050" dirty="0">
                <a:solidFill>
                  <a:srgbClr val="5B6E7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Retail Analytics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48640" y="5303520"/>
            <a:ext cx="3611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5B6E7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Designed the retail analytics framework</a:t>
            </a:r>
            <a:endParaRPr lang="en-US" sz="900" dirty="0"/>
          </a:p>
          <a:p>
            <a:pPr marL="177800" indent="-1778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5B6E7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Connected model outputs to business-focused insights</a:t>
            </a:r>
            <a:endParaRPr lang="en-US" sz="900" dirty="0"/>
          </a:p>
          <a:p>
            <a:pPr marL="177800" indent="-1778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5B6E7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Interpreted data for store performance analysis</a:t>
            </a:r>
            <a:endParaRPr lang="en-US" sz="900" dirty="0"/>
          </a:p>
          <a:p>
            <a:pPr marL="177800" indent="-1778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5B6E7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Supported reporting and visualization of results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434840" y="4544568"/>
            <a:ext cx="731520" cy="731520"/>
          </a:xfrm>
          <a:prstGeom prst="ellipse">
            <a:avLst/>
          </a:prstGeom>
          <a:ln w="15875">
            <a:solidFill>
              <a:srgbClr val="0B3D3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489704" y="4599432"/>
            <a:ext cx="621792" cy="62179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4489704" y="459943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B3D3E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NN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239512" y="461772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D3E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Nourhan Noureldin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5239512" y="4910328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2B2C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Role: </a:t>
            </a:r>
            <a:pPr indent="0" marL="0">
              <a:buNone/>
            </a:pPr>
            <a:r>
              <a:rPr lang="en-US" sz="1050" dirty="0">
                <a:solidFill>
                  <a:srgbClr val="5B6E7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Model Evaluation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416552" y="5303520"/>
            <a:ext cx="3611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5B6E7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Evaluated model performance across detection and tracking tasks</a:t>
            </a:r>
            <a:endParaRPr lang="en-US" sz="900" dirty="0"/>
          </a:p>
          <a:p>
            <a:pPr marL="177800" indent="-1778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5B6E7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Compared results against project requirements</a:t>
            </a:r>
            <a:endParaRPr lang="en-US" sz="900" dirty="0"/>
          </a:p>
          <a:p>
            <a:pPr marL="177800" indent="-1778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5B6E7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Identified areas for improvement and refinement</a:t>
            </a:r>
            <a:endParaRPr lang="en-US" sz="900" dirty="0"/>
          </a:p>
          <a:p>
            <a:pPr marL="177800" indent="-1778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5B6E7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Helped ensure solution quality and reliability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B6E7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SMART RETAIL VIDEO ANALYTICS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E7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E0A339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B2C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What the pipeline delivers today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66160" cy="1600200"/>
          </a:xfrm>
          <a:prstGeom prst="roundRect">
            <a:avLst>
              <a:gd name="adj" fmla="val 6857"/>
            </a:avLst>
          </a:prstGeom>
          <a:solidFill>
            <a:srgbClr val="EAF1F1"/>
          </a:solidFill>
          <a:ln w="12700">
            <a:solidFill>
              <a:srgbClr val="D8E3E2"/>
            </a:solidFill>
            <a:prstDash val="solid"/>
          </a:ln>
          <a:effectLst>
            <a:outerShdw sx="100000" sy="100000" kx="0" ky="0" algn="bl" rotWithShape="0" blurRad="101600" dist="25400" dir="5400000">
              <a:srgbClr val="6B7B7B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865376"/>
            <a:ext cx="566928" cy="566928"/>
          </a:xfrm>
          <a:prstGeom prst="ellipse">
            <a:avLst/>
          </a:prstGeom>
          <a:solidFill>
            <a:srgbClr val="0B3D3E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8653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🔗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25146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D3E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Stable multi-person identity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2807208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40" dirty="0">
                <a:solidFill>
                  <a:srgbClr val="5B6E7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Motion + appearance matching keeps IDs consistent through brief occlusion, instead of fragmenting into new IDs</a:t>
            </a:r>
            <a:endParaRPr lang="en-US" sz="940" dirty="0"/>
          </a:p>
        </p:txBody>
      </p:sp>
      <p:sp>
        <p:nvSpPr>
          <p:cNvPr id="9" name="Shape 7"/>
          <p:cNvSpPr/>
          <p:nvPr/>
        </p:nvSpPr>
        <p:spPr>
          <a:xfrm>
            <a:off x="4297680" y="1691640"/>
            <a:ext cx="3566160" cy="1600200"/>
          </a:xfrm>
          <a:prstGeom prst="roundRect">
            <a:avLst>
              <a:gd name="adj" fmla="val 6857"/>
            </a:avLst>
          </a:prstGeom>
          <a:solidFill>
            <a:srgbClr val="EAF1F1"/>
          </a:solidFill>
          <a:ln w="12700">
            <a:solidFill>
              <a:srgbClr val="D8E3E2"/>
            </a:solidFill>
            <a:prstDash val="solid"/>
          </a:ln>
          <a:effectLst>
            <a:outerShdw sx="100000" sy="100000" kx="0" ky="0" algn="bl" rotWithShape="0" blurRad="101600" dist="25400" dir="5400000">
              <a:srgbClr val="6B7B7B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17136" y="1865376"/>
            <a:ext cx="566928" cy="566928"/>
          </a:xfrm>
          <a:prstGeom prst="ellipse">
            <a:avLst/>
          </a:prstGeom>
          <a:solidFill>
            <a:srgbClr val="0B3D3E"/>
          </a:solidFill>
          <a:ln/>
        </p:spPr>
      </p:sp>
      <p:sp>
        <p:nvSpPr>
          <p:cNvPr id="11" name="Text 9"/>
          <p:cNvSpPr/>
          <p:nvPr/>
        </p:nvSpPr>
        <p:spPr>
          <a:xfrm>
            <a:off x="4517136" y="18653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🗺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26280" y="25146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D3E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Zone-level dwell insight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26280" y="2807208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40" dirty="0">
                <a:solidFill>
                  <a:srgbClr val="5B6E7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Automatic average dwell time per store zone, plus the most common customer flow paths</a:t>
            </a:r>
            <a:endParaRPr lang="en-US" sz="940" dirty="0"/>
          </a:p>
        </p:txBody>
      </p:sp>
      <p:sp>
        <p:nvSpPr>
          <p:cNvPr id="14" name="Shape 12"/>
          <p:cNvSpPr/>
          <p:nvPr/>
        </p:nvSpPr>
        <p:spPr>
          <a:xfrm>
            <a:off x="8046720" y="1691640"/>
            <a:ext cx="3566160" cy="1600200"/>
          </a:xfrm>
          <a:prstGeom prst="roundRect">
            <a:avLst>
              <a:gd name="adj" fmla="val 6857"/>
            </a:avLst>
          </a:prstGeom>
          <a:solidFill>
            <a:srgbClr val="EAF1F1"/>
          </a:solidFill>
          <a:ln w="12700">
            <a:solidFill>
              <a:srgbClr val="D8E3E2"/>
            </a:solidFill>
            <a:prstDash val="solid"/>
          </a:ln>
          <a:effectLst>
            <a:outerShdw sx="100000" sy="100000" kx="0" ky="0" algn="bl" rotWithShape="0" blurRad="101600" dist="25400" dir="5400000">
              <a:srgbClr val="6B7B7B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66176" y="1865376"/>
            <a:ext cx="566928" cy="566928"/>
          </a:xfrm>
          <a:prstGeom prst="ellipse">
            <a:avLst/>
          </a:prstGeom>
          <a:solidFill>
            <a:srgbClr val="0B3D3E"/>
          </a:solidFill>
          <a:ln/>
        </p:spPr>
      </p:sp>
      <p:sp>
        <p:nvSpPr>
          <p:cNvPr id="16" name="Text 14"/>
          <p:cNvSpPr/>
          <p:nvPr/>
        </p:nvSpPr>
        <p:spPr>
          <a:xfrm>
            <a:off x="8266176" y="18653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⏳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275320" y="25146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D3E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Live queue awareness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75320" y="2807208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40" dirty="0">
                <a:solidFill>
                  <a:srgbClr val="5B6E7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Real-time queue count, average wait time, and a busy / normal status signal</a:t>
            </a:r>
            <a:endParaRPr lang="en-US" sz="940" dirty="0"/>
          </a:p>
        </p:txBody>
      </p:sp>
      <p:sp>
        <p:nvSpPr>
          <p:cNvPr id="19" name="Shape 17"/>
          <p:cNvSpPr/>
          <p:nvPr/>
        </p:nvSpPr>
        <p:spPr>
          <a:xfrm>
            <a:off x="548640" y="3474720"/>
            <a:ext cx="3566160" cy="1600200"/>
          </a:xfrm>
          <a:prstGeom prst="roundRect">
            <a:avLst>
              <a:gd name="adj" fmla="val 6857"/>
            </a:avLst>
          </a:prstGeom>
          <a:solidFill>
            <a:srgbClr val="EAF1F1"/>
          </a:solidFill>
          <a:ln w="12700">
            <a:solidFill>
              <a:srgbClr val="D8E3E2"/>
            </a:solidFill>
            <a:prstDash val="solid"/>
          </a:ln>
          <a:effectLst>
            <a:outerShdw sx="100000" sy="100000" kx="0" ky="0" algn="bl" rotWithShape="0" blurRad="101600" dist="25400" dir="5400000">
              <a:srgbClr val="6B7B7B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68096" y="3648456"/>
            <a:ext cx="566928" cy="566928"/>
          </a:xfrm>
          <a:prstGeom prst="ellipse">
            <a:avLst/>
          </a:prstGeom>
          <a:solidFill>
            <a:srgbClr val="0B3D3E"/>
          </a:solidFill>
          <a:ln/>
        </p:spPr>
      </p:sp>
      <p:sp>
        <p:nvSpPr>
          <p:cNvPr id="21" name="Text 19"/>
          <p:cNvSpPr/>
          <p:nvPr/>
        </p:nvSpPr>
        <p:spPr>
          <a:xfrm>
            <a:off x="768096" y="36484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🔥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77240" y="42976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D3E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Visual traffic map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77240" y="4590288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40" dirty="0">
                <a:solidFill>
                  <a:srgbClr val="5B6E7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A single heatmap image that shows exactly where in the store customers actually go</a:t>
            </a:r>
            <a:endParaRPr lang="en-US" sz="940" dirty="0"/>
          </a:p>
        </p:txBody>
      </p:sp>
      <p:sp>
        <p:nvSpPr>
          <p:cNvPr id="24" name="Shape 22"/>
          <p:cNvSpPr/>
          <p:nvPr/>
        </p:nvSpPr>
        <p:spPr>
          <a:xfrm>
            <a:off x="4297680" y="3474720"/>
            <a:ext cx="3566160" cy="1600200"/>
          </a:xfrm>
          <a:prstGeom prst="roundRect">
            <a:avLst>
              <a:gd name="adj" fmla="val 6857"/>
            </a:avLst>
          </a:prstGeom>
          <a:solidFill>
            <a:srgbClr val="EAF1F1"/>
          </a:solidFill>
          <a:ln w="12700">
            <a:solidFill>
              <a:srgbClr val="D8E3E2"/>
            </a:solidFill>
            <a:prstDash val="solid"/>
          </a:ln>
          <a:effectLst>
            <a:outerShdw sx="100000" sy="100000" kx="0" ky="0" algn="bl" rotWithShape="0" blurRad="101600" dist="25400" dir="5400000">
              <a:srgbClr val="6B7B7B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17136" y="3648456"/>
            <a:ext cx="566928" cy="566928"/>
          </a:xfrm>
          <a:prstGeom prst="ellipse">
            <a:avLst/>
          </a:prstGeom>
          <a:solidFill>
            <a:srgbClr val="0B3D3E"/>
          </a:solidFill>
          <a:ln/>
        </p:spPr>
      </p:sp>
      <p:sp>
        <p:nvSpPr>
          <p:cNvPr id="26" name="Text 24"/>
          <p:cNvSpPr/>
          <p:nvPr/>
        </p:nvSpPr>
        <p:spPr>
          <a:xfrm>
            <a:off x="4517136" y="36484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👥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526280" y="42976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D3E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Crowd-aware metrics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26280" y="4590288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40" dirty="0">
                <a:solidFill>
                  <a:srgbClr val="5B6E7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Continuous occupancy tracking useful for staffing and safety decisions</a:t>
            </a:r>
            <a:endParaRPr lang="en-US" sz="940" dirty="0"/>
          </a:p>
        </p:txBody>
      </p:sp>
      <p:sp>
        <p:nvSpPr>
          <p:cNvPr id="29" name="Shape 27"/>
          <p:cNvSpPr/>
          <p:nvPr/>
        </p:nvSpPr>
        <p:spPr>
          <a:xfrm>
            <a:off x="8046720" y="3474720"/>
            <a:ext cx="3566160" cy="1600200"/>
          </a:xfrm>
          <a:prstGeom prst="roundRect">
            <a:avLst>
              <a:gd name="adj" fmla="val 6857"/>
            </a:avLst>
          </a:prstGeom>
          <a:solidFill>
            <a:srgbClr val="EAF1F1"/>
          </a:solidFill>
          <a:ln w="12700">
            <a:solidFill>
              <a:srgbClr val="D8E3E2"/>
            </a:solidFill>
            <a:prstDash val="solid"/>
          </a:ln>
          <a:effectLst>
            <a:outerShdw sx="100000" sy="100000" kx="0" ky="0" algn="bl" rotWithShape="0" blurRad="101600" dist="25400" dir="5400000">
              <a:srgbClr val="6B7B7B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266176" y="3648456"/>
            <a:ext cx="566928" cy="566928"/>
          </a:xfrm>
          <a:prstGeom prst="ellipse">
            <a:avLst/>
          </a:prstGeom>
          <a:solidFill>
            <a:srgbClr val="0B3D3E"/>
          </a:solidFill>
          <a:ln/>
        </p:spPr>
      </p:sp>
      <p:sp>
        <p:nvSpPr>
          <p:cNvPr id="31" name="Text 29"/>
          <p:cNvSpPr/>
          <p:nvPr/>
        </p:nvSpPr>
        <p:spPr>
          <a:xfrm>
            <a:off x="8266176" y="36484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🖥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275320" y="42976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D3E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Usable by anyone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275320" y="4590288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40" dirty="0">
                <a:solidFill>
                  <a:srgbClr val="5B6E7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A styled, interactive dashboard — no code required to run a new video through the full pipeline</a:t>
            </a:r>
            <a:endParaRPr lang="en-US" sz="940" dirty="0"/>
          </a:p>
        </p:txBody>
      </p:sp>
      <p:sp>
        <p:nvSpPr>
          <p:cNvPr id="34" name="Text 32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B6E7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SMART RETAIL VIDEO ANALYTICS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E7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E0A339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789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B2C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One pipeline, from raw footage to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142B2C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retail decisions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5394960" cy="4023360"/>
          </a:xfrm>
          <a:prstGeom prst="roundRect">
            <a:avLst>
              <a:gd name="adj" fmla="val 2727"/>
            </a:avLst>
          </a:prstGeom>
          <a:solidFill>
            <a:srgbClr val="EAF1F1"/>
          </a:solidFill>
          <a:ln w="12700">
            <a:solidFill>
              <a:srgbClr val="D8E3E2"/>
            </a:solidFill>
            <a:prstDash val="solid"/>
          </a:ln>
          <a:effectLst>
            <a:outerShdw sx="100000" sy="100000" kx="0" ky="0" algn="bl" rotWithShape="0" blurRad="101600" dist="25400" dir="5400000">
              <a:srgbClr val="6B7B7B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5603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3E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Conclusion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971800"/>
            <a:ext cx="4754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142B2C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We designed and built a full computer-vision pipeline — detection, tracking, zone analytics, queue and crowd monitoring, and evaluation — from a single store video</a:t>
            </a:r>
            <a:endParaRPr lang="en-US" sz="1200" dirty="0"/>
          </a:p>
          <a:p>
            <a:pPr marL="177800" indent="-177800">
              <a:lnSpc>
                <a:spcPct val="112000"/>
              </a:lnSpc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142B2C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Multi-object tracking specifically addresses the overlapping-ID problem using motion prediction combined with appearance matching</a:t>
            </a:r>
            <a:endParaRPr lang="en-US" sz="1200" dirty="0"/>
          </a:p>
          <a:p>
            <a:pPr marL="177800" indent="-177800">
              <a:lnSpc>
                <a:spcPct val="112000"/>
              </a:lnSpc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142B2C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The result is wrapped in a live dashboard, turning a research pipeline into something a store team can actually use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2286000"/>
            <a:ext cx="5394960" cy="4023360"/>
          </a:xfrm>
          <a:prstGeom prst="roundRect">
            <a:avLst>
              <a:gd name="adj" fmla="val 2727"/>
            </a:avLst>
          </a:prstGeom>
          <a:solidFill>
            <a:srgbClr val="0B3D3E"/>
          </a:solidFill>
          <a:ln/>
          <a:effectLst>
            <a:outerShdw sx="100000" sy="100000" kx="0" ky="0" algn="bl" rotWithShape="0" blurRad="101600" dist="25400" dir="5400000">
              <a:srgbClr val="6B7B7B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37960" y="25603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A339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Future Work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37960" y="2971800"/>
            <a:ext cx="4754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F4F8F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Multi-camera fusion for full-store coverage, not a single viewpoint</a:t>
            </a:r>
            <a:endParaRPr lang="en-US" sz="1200" dirty="0"/>
          </a:p>
          <a:p>
            <a:pPr marL="177800" indent="-177800">
              <a:lnSpc>
                <a:spcPct val="112000"/>
              </a:lnSpc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F4F8F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Re-identification across cameras, so an ID survives leaving one camera's view</a:t>
            </a:r>
            <a:endParaRPr lang="en-US" sz="1200" dirty="0"/>
          </a:p>
          <a:p>
            <a:pPr marL="177800" indent="-177800">
              <a:lnSpc>
                <a:spcPct val="112000"/>
              </a:lnSpc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F4F8F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Real-time streaming instead of offline video processing</a:t>
            </a:r>
            <a:endParaRPr lang="en-US" sz="1200" dirty="0"/>
          </a:p>
          <a:p>
            <a:pPr marL="177800" indent="-177800">
              <a:lnSpc>
                <a:spcPct val="112000"/>
              </a:lnSpc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F4F8F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Stronger motion compensation for moving or shaking cameras</a:t>
            </a:r>
            <a:endParaRPr lang="en-US" sz="1200" dirty="0"/>
          </a:p>
          <a:p>
            <a:pPr marL="177800" indent="-177800">
              <a:lnSpc>
                <a:spcPct val="112000"/>
              </a:lnSpc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F4F8F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Integration with POS data to connect movement with actual sales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B6E7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SMART RETAIL VIDEO ANALYTICS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E7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3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194560"/>
            <a:ext cx="5486400" cy="5486400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3840480"/>
            <a:ext cx="5029200" cy="5029200"/>
          </a:xfrm>
          <a:prstGeom prst="ellipse">
            <a:avLst/>
          </a:prstGeom>
          <a:solidFill>
            <a:srgbClr val="E0A339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2468880"/>
            <a:ext cx="121889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4F8F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0" y="3520440"/>
            <a:ext cx="12188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0A339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0" y="603504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FC6C4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Smart Retail Video Analytics  ·  NTI Team Project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2026-08-06T10:41:26Z</dcterms:created>
  <dcterms:modified xsi:type="dcterms:W3CDTF">2026-08-06T10:41:26Z</dcterms:modified>
</cp:coreProperties>
</file>